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71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2" d="100"/>
          <a:sy n="92" d="100"/>
        </p:scale>
        <p:origin x="464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523338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11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F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217920" y="-1097280"/>
            <a:ext cx="4572000" cy="4572000"/>
          </a:xfrm>
          <a:prstGeom prst="ellipse">
            <a:avLst/>
          </a:prstGeom>
          <a:solidFill>
            <a:srgbClr val="1A7A4A">
              <a:alpha val="25000"/>
            </a:srgbClr>
          </a:solidFill>
          <a:ln w="12700">
            <a:solidFill>
              <a:srgbClr val="1A7A4A">
                <a:alpha val="2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371600" y="2560320"/>
            <a:ext cx="3657600" cy="3657600"/>
          </a:xfrm>
          <a:prstGeom prst="ellipse">
            <a:avLst/>
          </a:prstGeom>
          <a:solidFill>
            <a:srgbClr val="22A05A">
              <a:alpha val="18000"/>
            </a:srgbClr>
          </a:solidFill>
          <a:ln w="12700">
            <a:solidFill>
              <a:srgbClr val="22A05A">
                <a:alpha val="18000"/>
              </a:srgbClr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548640"/>
            <a:ext cx="502920" cy="5029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188720" y="50292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500" dirty="0">
                <a:solidFill>
                  <a:srgbClr val="4ADE80"/>
                </a:solidFill>
              </a:rPr>
              <a:t>DBMS COURSE PROJECT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548640" y="1188720"/>
            <a:ext cx="7772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FoodLink</a:t>
            </a:r>
            <a:endParaRPr lang="en-US" sz="7200" dirty="0"/>
          </a:p>
        </p:txBody>
      </p:sp>
      <p:sp>
        <p:nvSpPr>
          <p:cNvPr id="7" name="Text 4"/>
          <p:cNvSpPr/>
          <p:nvPr/>
        </p:nvSpPr>
        <p:spPr>
          <a:xfrm>
            <a:off x="548640" y="251460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i="1" dirty="0">
                <a:solidFill>
                  <a:srgbClr val="4ADE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Food Redistribution System</a:t>
            </a:r>
            <a:endParaRPr lang="en-US" sz="2400" dirty="0"/>
          </a:p>
        </p:txBody>
      </p:sp>
      <p:sp>
        <p:nvSpPr>
          <p:cNvPr id="8" name="Shape 5"/>
          <p:cNvSpPr/>
          <p:nvPr/>
        </p:nvSpPr>
        <p:spPr>
          <a:xfrm>
            <a:off x="548640" y="3246120"/>
            <a:ext cx="2286000" cy="36576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48640" y="342900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CA3AF"/>
                </a:solidFill>
              </a:rPr>
              <a:t>Connecting Donors with NGOs  ·  Reducing Food Waste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9CA3AF"/>
                </a:solidFill>
              </a:rPr>
              <a:t>MySQL · Node.js · React.js · Row-Level Locking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5943600" y="461772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B7280"/>
                </a:solidFill>
              </a:rPr>
              <a:t>B.Tech CSE · DBMS Lab Project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474720" cy="5143500"/>
          </a:xfrm>
          <a:prstGeom prst="rect">
            <a:avLst/>
          </a:prstGeom>
          <a:solidFill>
            <a:srgbClr val="0D1F1A"/>
          </a:solidFill>
          <a:ln w="12700">
            <a:solidFill>
              <a:srgbClr val="0D1F1A"/>
            </a:solidFill>
            <a:prstDash val="solid"/>
          </a:ln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0160" y="640080"/>
            <a:ext cx="822960" cy="8229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28600" y="1600200"/>
            <a:ext cx="30175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Problem</a:t>
            </a:r>
            <a:endParaRPr lang="en-US" sz="3000" dirty="0"/>
          </a:p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Statement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228600" y="320040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4ADE80"/>
                </a:solidFill>
              </a:rPr>
              <a:t>Why does this problem exist?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365760" y="379476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40%</a:t>
            </a:r>
            <a:endParaRPr lang="en-US" sz="4200" dirty="0"/>
          </a:p>
        </p:txBody>
      </p:sp>
      <p:sp>
        <p:nvSpPr>
          <p:cNvPr id="7" name="Text 4"/>
          <p:cNvSpPr/>
          <p:nvPr/>
        </p:nvSpPr>
        <p:spPr>
          <a:xfrm>
            <a:off x="274320" y="4407408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CA3AF"/>
                </a:solidFill>
              </a:rPr>
              <a:t>of food produced in India is wasted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3657600" y="411480"/>
            <a:ext cx="5212080" cy="960120"/>
          </a:xfrm>
          <a:prstGeom prst="rect">
            <a:avLst/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  <a:effectLst>
            <a:outerShdw blurRad="50800" dist="254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3886200" y="484632"/>
            <a:ext cx="4754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</a:rPr>
              <a:t>🍲 Food Surplus Goes Unused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3886200" y="841248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</a:rPr>
              <a:t>Hotels, restaurants &amp; events discard tons of edible food daily — no channel to redirect it.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3657600" y="1508760"/>
            <a:ext cx="5212080" cy="960120"/>
          </a:xfrm>
          <a:prstGeom prst="rect">
            <a:avLst/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  <a:effectLst>
            <a:outerShdw blurRad="50800" dist="254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3886200" y="1581912"/>
            <a:ext cx="4754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</a:rPr>
              <a:t>🏘️ NGOs Lack Discovery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3886200" y="1938528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</a:rPr>
              <a:t>Charitable organizations cannot easily discover available food near them in real time.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3657600" y="2606040"/>
            <a:ext cx="5212080" cy="960120"/>
          </a:xfrm>
          <a:prstGeom prst="rect">
            <a:avLst/>
          </a:prstGeom>
          <a:solidFill>
            <a:srgbClr val="FEF3C7"/>
          </a:solidFill>
          <a:ln w="12700">
            <a:solidFill>
              <a:srgbClr val="F59E0B"/>
            </a:solidFill>
            <a:prstDash val="solid"/>
          </a:ln>
          <a:effectLst>
            <a:outerShdw blurRad="50800" dist="254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3886200" y="2679192"/>
            <a:ext cx="4754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</a:rPr>
              <a:t>⚡ Race Conditions in Allocation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3886200" y="3035808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</a:rPr>
              <a:t>Multiple NGOs requesting the same limited food stock leads to data inconsistency without proper DB controls.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3657600" y="3703320"/>
            <a:ext cx="5212080" cy="960120"/>
          </a:xfrm>
          <a:prstGeom prst="rect">
            <a:avLst/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  <a:effectLst>
            <a:outerShdw blurRad="50800" dist="254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3886200" y="3776472"/>
            <a:ext cx="4754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</a:rPr>
              <a:t>📋 No Accountability Trail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3886200" y="4133088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</a:rPr>
              <a:t>Donations have no structured record — impossible to track what was given, when, and to whom.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D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D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Our Solution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B7280"/>
                </a:solidFill>
              </a:rPr>
              <a:t>A full-stack DBMS-powered platform bridging food donors and NGOs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365760" y="1463040"/>
            <a:ext cx="2651760" cy="16002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30352" y="1645920"/>
            <a:ext cx="457200" cy="457200"/>
          </a:xfrm>
          <a:prstGeom prst="ellipse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216" y="1691640"/>
            <a:ext cx="347472" cy="34747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78992" y="1664208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</a:rPr>
              <a:t>Donor Portal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530352" y="2176272"/>
            <a:ext cx="23774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</a:rPr>
              <a:t>List surplus food with quantity, type, expiry, and location details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3200400" y="1463040"/>
            <a:ext cx="2651760" cy="16002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364992" y="1645920"/>
            <a:ext cx="457200" cy="45720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19856" y="1691640"/>
            <a:ext cx="347472" cy="34747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913632" y="1664208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</a:rPr>
              <a:t>NGO Dashboard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3364992" y="2176272"/>
            <a:ext cx="23774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</a:rPr>
              <a:t>Browse prioritized food listings filtered by location &amp; urgency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6035040" y="1463040"/>
            <a:ext cx="2651760" cy="16002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199632" y="1645920"/>
            <a:ext cx="457200" cy="45720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54496" y="1691640"/>
            <a:ext cx="347472" cy="34747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748272" y="1664208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</a:rPr>
              <a:t>Concurrency Control</a:t>
            </a:r>
            <a:endParaRPr lang="en-US" sz="1200" dirty="0"/>
          </a:p>
        </p:txBody>
      </p:sp>
      <p:sp>
        <p:nvSpPr>
          <p:cNvPr id="18" name="Text 13"/>
          <p:cNvSpPr/>
          <p:nvPr/>
        </p:nvSpPr>
        <p:spPr>
          <a:xfrm>
            <a:off x="6199632" y="2176272"/>
            <a:ext cx="23774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</a:rPr>
              <a:t>Row-level locking prevents double-allocation in simultaneous requests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365760" y="3246120"/>
            <a:ext cx="2651760" cy="16002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530352" y="3429000"/>
            <a:ext cx="457200" cy="45720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5216" y="3474720"/>
            <a:ext cx="347472" cy="34747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078992" y="3447288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</a:rPr>
              <a:t>3NF Database</a:t>
            </a:r>
            <a:endParaRPr lang="en-US" sz="1200" dirty="0"/>
          </a:p>
        </p:txBody>
      </p:sp>
      <p:sp>
        <p:nvSpPr>
          <p:cNvPr id="23" name="Text 17"/>
          <p:cNvSpPr/>
          <p:nvPr/>
        </p:nvSpPr>
        <p:spPr>
          <a:xfrm>
            <a:off x="530352" y="3959352"/>
            <a:ext cx="23774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</a:rPr>
              <a:t>Normalized MySQL schema: Cities, Users, Food_Listings, Requests, Transactions</a:t>
            </a:r>
            <a:endParaRPr lang="en-US" sz="1050" dirty="0"/>
          </a:p>
        </p:txBody>
      </p:sp>
      <p:sp>
        <p:nvSpPr>
          <p:cNvPr id="24" name="Shape 18"/>
          <p:cNvSpPr/>
          <p:nvPr/>
        </p:nvSpPr>
        <p:spPr>
          <a:xfrm>
            <a:off x="3200400" y="3246120"/>
            <a:ext cx="2651760" cy="16002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3364992" y="3429000"/>
            <a:ext cx="457200" cy="457200"/>
          </a:xfrm>
          <a:prstGeom prst="ellipse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19856" y="3474720"/>
            <a:ext cx="347472" cy="347472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3913632" y="3447288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</a:rPr>
              <a:t>Priority Algorithm</a:t>
            </a:r>
            <a:endParaRPr lang="en-US" sz="1200" dirty="0"/>
          </a:p>
        </p:txBody>
      </p:sp>
      <p:sp>
        <p:nvSpPr>
          <p:cNvPr id="28" name="Text 21"/>
          <p:cNvSpPr/>
          <p:nvPr/>
        </p:nvSpPr>
        <p:spPr>
          <a:xfrm>
            <a:off x="3364992" y="3959352"/>
            <a:ext cx="23774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</a:rPr>
              <a:t>Auto-ranks food by expiry (&lt;5h), pincode, city, and state proximity</a:t>
            </a:r>
            <a:endParaRPr lang="en-US" sz="1050" dirty="0"/>
          </a:p>
        </p:txBody>
      </p:sp>
      <p:sp>
        <p:nvSpPr>
          <p:cNvPr id="29" name="Shape 22"/>
          <p:cNvSpPr/>
          <p:nvPr/>
        </p:nvSpPr>
        <p:spPr>
          <a:xfrm>
            <a:off x="6035040" y="3246120"/>
            <a:ext cx="2651760" cy="16002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6199632" y="3429000"/>
            <a:ext cx="457200" cy="45720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pic>
        <p:nvPicPr>
          <p:cNvPr id="31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54496" y="3474720"/>
            <a:ext cx="347472" cy="347472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6748272" y="3447288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</a:rPr>
              <a:t>Partial Allocation</a:t>
            </a:r>
            <a:endParaRPr lang="en-US" sz="1200" dirty="0"/>
          </a:p>
        </p:txBody>
      </p:sp>
      <p:sp>
        <p:nvSpPr>
          <p:cNvPr id="33" name="Text 25"/>
          <p:cNvSpPr/>
          <p:nvPr/>
        </p:nvSpPr>
        <p:spPr>
          <a:xfrm>
            <a:off x="6199632" y="3959352"/>
            <a:ext cx="23774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</a:rPr>
              <a:t>Multiple NGOs share a single listing — no food goes untouched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F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Website Flow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9CA3AF"/>
                </a:solidFill>
              </a:rPr>
              <a:t>Two-role system — every action flows through the database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274320" y="13716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4ADE80"/>
                </a:solidFill>
              </a:rPr>
              <a:t>DONOR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274320" y="1737360"/>
            <a:ext cx="1508760" cy="822960"/>
          </a:xfrm>
          <a:prstGeom prst="rect">
            <a:avLst/>
          </a:prstGeom>
          <a:solidFill>
            <a:srgbClr val="1A7A4A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737360"/>
            <a:ext cx="1508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Signup as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Donor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1783080" y="2084832"/>
            <a:ext cx="182880" cy="128016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965960" y="1737360"/>
            <a:ext cx="1508760" cy="822960"/>
          </a:xfrm>
          <a:prstGeom prst="rect">
            <a:avLst/>
          </a:prstGeom>
          <a:solidFill>
            <a:srgbClr val="1A7A4A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965960" y="1737360"/>
            <a:ext cx="1508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Add Food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Listing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0" y="2084832"/>
            <a:ext cx="182880" cy="128016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57600" y="1737360"/>
            <a:ext cx="1508760" cy="822960"/>
          </a:xfrm>
          <a:prstGeom prst="rect">
            <a:avLst/>
          </a:prstGeom>
          <a:solidFill>
            <a:srgbClr val="1A7A4A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0" y="1737360"/>
            <a:ext cx="1508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Set Expiry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&amp; Location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166360" y="2084832"/>
            <a:ext cx="182880" cy="128016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349240" y="1737360"/>
            <a:ext cx="1508760" cy="822960"/>
          </a:xfrm>
          <a:prstGeom prst="rect">
            <a:avLst/>
          </a:prstGeom>
          <a:solidFill>
            <a:srgbClr val="1A7A4A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349240" y="1737360"/>
            <a:ext cx="1508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View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Requests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858000" y="2084832"/>
            <a:ext cx="182880" cy="128016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040880" y="1737360"/>
            <a:ext cx="1508760" cy="822960"/>
          </a:xfrm>
          <a:prstGeom prst="rect">
            <a:avLst/>
          </a:prstGeom>
          <a:solidFill>
            <a:srgbClr val="1A7A4A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040880" y="1737360"/>
            <a:ext cx="1508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Transactions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Logged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74320" y="288036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93C5FD"/>
                </a:solidFill>
              </a:rPr>
              <a:t>NGO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74320" y="3246120"/>
            <a:ext cx="1508760" cy="822960"/>
          </a:xfrm>
          <a:prstGeom prst="rect">
            <a:avLst/>
          </a:prstGeom>
          <a:solidFill>
            <a:srgbClr val="2563EB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74320" y="3246120"/>
            <a:ext cx="1508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Signup as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NGO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1783080" y="3593592"/>
            <a:ext cx="182880" cy="128016"/>
          </a:xfrm>
          <a:prstGeom prst="rect">
            <a:avLst/>
          </a:prstGeom>
          <a:solidFill>
            <a:srgbClr val="93C5FD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965960" y="3246120"/>
            <a:ext cx="1508760" cy="822960"/>
          </a:xfrm>
          <a:prstGeom prst="rect">
            <a:avLst/>
          </a:prstGeom>
          <a:solidFill>
            <a:srgbClr val="2563EB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965960" y="3246120"/>
            <a:ext cx="1508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Browse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Priority Feed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474720" y="3593592"/>
            <a:ext cx="182880" cy="128016"/>
          </a:xfrm>
          <a:prstGeom prst="rect">
            <a:avLst/>
          </a:prstGeom>
          <a:solidFill>
            <a:srgbClr val="93C5FD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657600" y="3246120"/>
            <a:ext cx="1508760" cy="822960"/>
          </a:xfrm>
          <a:prstGeom prst="rect">
            <a:avLst/>
          </a:prstGeom>
          <a:solidFill>
            <a:srgbClr val="2563EB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0" y="3246120"/>
            <a:ext cx="1508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Submit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Request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166360" y="3593592"/>
            <a:ext cx="182880" cy="128016"/>
          </a:xfrm>
          <a:prstGeom prst="rect">
            <a:avLst/>
          </a:prstGeom>
          <a:solidFill>
            <a:srgbClr val="93C5FD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349240" y="3246120"/>
            <a:ext cx="1508760" cy="822960"/>
          </a:xfrm>
          <a:prstGeom prst="rect">
            <a:avLst/>
          </a:prstGeom>
          <a:solidFill>
            <a:srgbClr val="2563EB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349240" y="3246120"/>
            <a:ext cx="1508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Partial/Full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Allocation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6858000" y="3593592"/>
            <a:ext cx="182880" cy="128016"/>
          </a:xfrm>
          <a:prstGeom prst="rect">
            <a:avLst/>
          </a:prstGeom>
          <a:solidFill>
            <a:srgbClr val="93C5FD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040880" y="3246120"/>
            <a:ext cx="1508760" cy="822960"/>
          </a:xfrm>
          <a:prstGeom prst="rect">
            <a:avLst/>
          </a:prstGeom>
          <a:solidFill>
            <a:srgbClr val="2563EB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040880" y="3246120"/>
            <a:ext cx="1508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Track &amp;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Cancel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2926080" y="2606040"/>
            <a:ext cx="3291840" cy="548640"/>
          </a:xfrm>
          <a:prstGeom prst="rect">
            <a:avLst/>
          </a:prstGeom>
          <a:solidFill>
            <a:srgbClr val="1F2937"/>
          </a:solidFill>
          <a:ln w="12700">
            <a:solidFill>
              <a:srgbClr val="4ADE80"/>
            </a:solidFill>
            <a:prstDash val="solid"/>
          </a:ln>
        </p:spPr>
      </p:sp>
      <p:pic>
        <p:nvPicPr>
          <p:cNvPr id="3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54680" y="2679192"/>
            <a:ext cx="365760" cy="365760"/>
          </a:xfrm>
          <a:prstGeom prst="rect">
            <a:avLst/>
          </a:prstGeom>
        </p:spPr>
      </p:pic>
      <p:sp>
        <p:nvSpPr>
          <p:cNvPr id="36" name="Text 33"/>
          <p:cNvSpPr/>
          <p:nvPr/>
        </p:nvSpPr>
        <p:spPr>
          <a:xfrm>
            <a:off x="3566160" y="2679192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ADE80"/>
                </a:solidFill>
              </a:rPr>
              <a:t>MySQL Database  ·  Transactions  ·  Row Locks</a:t>
            </a:r>
            <a:endParaRPr lang="en-US" sz="1100" dirty="0"/>
          </a:p>
        </p:txBody>
      </p:sp>
      <p:sp>
        <p:nvSpPr>
          <p:cNvPr id="37" name="Shape 34"/>
          <p:cNvSpPr/>
          <p:nvPr/>
        </p:nvSpPr>
        <p:spPr>
          <a:xfrm>
            <a:off x="4462272" y="2560320"/>
            <a:ext cx="0" cy="45720"/>
          </a:xfrm>
          <a:prstGeom prst="line">
            <a:avLst/>
          </a:prstGeom>
          <a:noFill/>
          <a:ln w="12700">
            <a:solidFill>
              <a:srgbClr val="4ADE80"/>
            </a:solidFill>
            <a:prstDash val="dash"/>
          </a:ln>
        </p:spPr>
      </p:sp>
      <p:sp>
        <p:nvSpPr>
          <p:cNvPr id="38" name="Shape 35"/>
          <p:cNvSpPr/>
          <p:nvPr/>
        </p:nvSpPr>
        <p:spPr>
          <a:xfrm>
            <a:off x="4462272" y="3154680"/>
            <a:ext cx="0" cy="45720"/>
          </a:xfrm>
          <a:prstGeom prst="line">
            <a:avLst/>
          </a:prstGeom>
          <a:noFill/>
          <a:ln w="12700">
            <a:solidFill>
              <a:srgbClr val="93C5FD"/>
            </a:solidFill>
            <a:prstDash val="dash"/>
          </a:ln>
        </p:spPr>
      </p:sp>
      <p:sp>
        <p:nvSpPr>
          <p:cNvPr id="39" name="Text 36"/>
          <p:cNvSpPr/>
          <p:nvPr/>
        </p:nvSpPr>
        <p:spPr>
          <a:xfrm>
            <a:off x="365760" y="466344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B7280"/>
                </a:solidFill>
              </a:rPr>
              <a:t>Every request flows through SQL transactions with row-level locking for concurrency safety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B952DD1-D87F-9AED-AF65-701DD0AE1B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544" y="574963"/>
            <a:ext cx="9005455" cy="493914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51811C2-400F-B3F5-E56A-3A000CD4C0FF}"/>
              </a:ext>
            </a:extLst>
          </p:cNvPr>
          <p:cNvSpPr txBox="1"/>
          <p:nvPr/>
        </p:nvSpPr>
        <p:spPr>
          <a:xfrm>
            <a:off x="284019" y="140915"/>
            <a:ext cx="4572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3200" b="1" dirty="0">
                <a:solidFill>
                  <a:srgbClr val="0D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ER Diagram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5713238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F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Database Design (3NF)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9CA3AF"/>
                </a:solidFill>
              </a:rPr>
              <a:t>All non-key attributes depend on the whole primary key — no transitive dependencies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65760" y="1234440"/>
            <a:ext cx="8412480" cy="658368"/>
          </a:xfrm>
          <a:prstGeom prst="rect">
            <a:avLst/>
          </a:prstGeom>
          <a:solidFill>
            <a:srgbClr val="111827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234440"/>
            <a:ext cx="1417320" cy="658368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234440"/>
            <a:ext cx="1417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Cities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920240" y="1271016"/>
            <a:ext cx="66751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city_id PK · city_name UNIQUE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65760" y="1984248"/>
            <a:ext cx="8412480" cy="658368"/>
          </a:xfrm>
          <a:prstGeom prst="rect">
            <a:avLst/>
          </a:prstGeom>
          <a:solidFill>
            <a:srgbClr val="111827"/>
          </a:solidFill>
          <a:ln w="12700">
            <a:solidFill>
              <a:srgbClr val="22A05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65760" y="1984248"/>
            <a:ext cx="1417320" cy="658368"/>
          </a:xfrm>
          <a:prstGeom prst="rect">
            <a:avLst/>
          </a:prstGeom>
          <a:solidFill>
            <a:srgbClr val="22A05A"/>
          </a:solidFill>
          <a:ln w="12700">
            <a:solidFill>
              <a:srgbClr val="22A05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1984248"/>
            <a:ext cx="1417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Users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920240" y="2020824"/>
            <a:ext cx="66751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user_id PK · name · email UNIQUE · password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role ENUM('donor','ngo') · city_id FK · state · pincode · contact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65760" y="2734056"/>
            <a:ext cx="8412480" cy="658368"/>
          </a:xfrm>
          <a:prstGeom prst="rect">
            <a:avLst/>
          </a:prstGeom>
          <a:solidFill>
            <a:srgbClr val="111827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2734056"/>
            <a:ext cx="1417320" cy="65836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2734056"/>
            <a:ext cx="1417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Food_Listings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920240" y="2770632"/>
            <a:ext cx="66751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food_id PK · donor_id FK · food_name · food_type · is_veg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total_quantity · remaining_quantity · unit · expiry_time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city_id FK · state · pincode · status ENUM · description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65760" y="3483864"/>
            <a:ext cx="8412480" cy="658368"/>
          </a:xfrm>
          <a:prstGeom prst="rect">
            <a:avLst/>
          </a:prstGeom>
          <a:solidFill>
            <a:srgbClr val="111827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65760" y="3483864"/>
            <a:ext cx="1417320" cy="65836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3483864"/>
            <a:ext cx="1417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Requests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920240" y="3520440"/>
            <a:ext cx="66751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request_id PK · food_id FK · ngo_id FK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requested_quantity · allocated_quantity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status ENUM('pending','approved','partially_approved','rejected','cancelled')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65760" y="4233672"/>
            <a:ext cx="8412480" cy="658368"/>
          </a:xfrm>
          <a:prstGeom prst="rect">
            <a:avLst/>
          </a:prstGeom>
          <a:solidFill>
            <a:srgbClr val="111827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65760" y="4233672"/>
            <a:ext cx="1417320" cy="65836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5760" y="4233672"/>
            <a:ext cx="1417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Transactions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920240" y="4270248"/>
            <a:ext cx="66751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transaction_id PK · food_id FK · donor_id FK · ngo_id FK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allocated_quantity · completed_at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65760" y="4828032"/>
            <a:ext cx="8412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B7280"/>
                </a:solidFill>
              </a:rPr>
              <a:t>🔗  All foreign keys reference parent tables with ON DELETE CASCADE / SET NULL constraints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D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Normalization Applied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365760" y="1005840"/>
            <a:ext cx="8412480" cy="1188720"/>
          </a:xfrm>
          <a:prstGeom prst="rect">
            <a:avLst/>
          </a:prstGeom>
          <a:solidFill>
            <a:srgbClr val="F0FDF4"/>
          </a:solidFill>
          <a:ln w="19050">
            <a:solidFill>
              <a:srgbClr val="1A7A4A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365760" y="1005840"/>
            <a:ext cx="914400" cy="1188720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005840"/>
            <a:ext cx="9144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1NF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1417320" y="1115568"/>
            <a:ext cx="7132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7A4A"/>
                </a:solidFill>
              </a:rPr>
              <a:t>Atomic values, no repeating groups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417320" y="1508760"/>
            <a:ext cx="7132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</a:rPr>
              <a:t>→  Each column holds a single value — no comma-separated lists of NGO IDs or food items. Every row uniquely identified by its PK.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65760" y="2331720"/>
            <a:ext cx="8412480" cy="1188720"/>
          </a:xfrm>
          <a:prstGeom prst="rect">
            <a:avLst/>
          </a:prstGeom>
          <a:solidFill>
            <a:srgbClr val="F0FDF4"/>
          </a:solidFill>
          <a:ln w="19050">
            <a:solidFill>
              <a:srgbClr val="2563EB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65760" y="2331720"/>
            <a:ext cx="914400" cy="11887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2331720"/>
            <a:ext cx="9144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2NF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1417320" y="2441448"/>
            <a:ext cx="7132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563EB"/>
                </a:solidFill>
              </a:rPr>
              <a:t>No partial dependencies on composite keys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417320" y="2834640"/>
            <a:ext cx="7132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</a:rPr>
              <a:t>→  No composite PKs — all tables use single-column surrogate PKs (user_id, food_id, etc.). Every non-key attribute fully depends on the PK.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365760" y="3657600"/>
            <a:ext cx="8412480" cy="1188720"/>
          </a:xfrm>
          <a:prstGeom prst="rect">
            <a:avLst/>
          </a:prstGeom>
          <a:solidFill>
            <a:srgbClr val="F0FDF4"/>
          </a:solidFill>
          <a:ln w="19050">
            <a:solidFill>
              <a:srgbClr val="7C3AED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65760" y="3657600"/>
            <a:ext cx="914400" cy="11887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3657600"/>
            <a:ext cx="9144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3NF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1417320" y="3767328"/>
            <a:ext cx="7132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7C3AED"/>
                </a:solidFill>
              </a:rPr>
              <a:t>No transitive dependencies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417320" y="4160520"/>
            <a:ext cx="7132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</a:rPr>
              <a:t>→  City data (city_name) moved to Cities table. Users only store city_id FK — city_name doesn't depend on user_id. Eliminates update anomalies.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365760" y="4736592"/>
            <a:ext cx="8412480" cy="292608"/>
          </a:xfrm>
          <a:prstGeom prst="rect">
            <a:avLst/>
          </a:prstGeom>
          <a:solidFill>
            <a:srgbClr val="DCFCE7"/>
          </a:solidFill>
          <a:ln w="6350">
            <a:solidFill>
              <a:srgbClr val="1A7A4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" y="475488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7A4A"/>
                </a:solidFill>
              </a:rPr>
              <a:t>Result: Eliminated insert / update / delete anomalies — single source of truth for city names and user roles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D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D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Constraints &amp; Keys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B7280"/>
                </a:solidFill>
              </a:rPr>
              <a:t>Enforcing data integrity at the database layer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65760" y="1234440"/>
            <a:ext cx="402336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F59E0B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234440"/>
            <a:ext cx="1463040" cy="34747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234440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PRIMARY KEY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2920" y="1618488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</a:rPr>
              <a:t>Unique identifier for every table (user_id, food_id, request_id …)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65760" y="2148840"/>
            <a:ext cx="402336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1A7A4A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65760" y="2148840"/>
            <a:ext cx="1463040" cy="347472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2148840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FOREIGN KEY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02920" y="2532888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</a:rPr>
              <a:t>Referential integrity: donor_id → Users, city_id → Cities, ngo_id → Users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65760" y="3063240"/>
            <a:ext cx="402336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2563EB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65760" y="3063240"/>
            <a:ext cx="1463040" cy="34747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3063240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UNIQUE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02920" y="3447288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</a:rPr>
              <a:t>email in Users — prevents duplicate registrations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65760" y="3977640"/>
            <a:ext cx="402336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7C3AED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3977640"/>
            <a:ext cx="1463040" cy="34747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3977640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ENUM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02920" y="4361688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</a:rPr>
              <a:t>role: ('donor','ngo') · status: ('available','partially_allocated','fully_allocated','expired')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754880" y="1234440"/>
            <a:ext cx="402336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2626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754880" y="1234440"/>
            <a:ext cx="1737360" cy="34747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54880" y="1234440"/>
            <a:ext cx="1737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NOT NULL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892040" y="1618488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</a:rPr>
              <a:t>name, email, password, total_quantity, expiry_time — mandatory fields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754880" y="2148840"/>
            <a:ext cx="402336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1A7A4A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754880" y="2148840"/>
            <a:ext cx="1737360" cy="347472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54880" y="2148840"/>
            <a:ext cx="1737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DEFAULT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892040" y="2532888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</a:rPr>
              <a:t>created_at / completed_at use CURRENT_TIMESTAMP — no manual inserts needed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754880" y="3063240"/>
            <a:ext cx="402336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F59E0B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754880" y="3063240"/>
            <a:ext cx="1737360" cy="34747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754880" y="3063240"/>
            <a:ext cx="1737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ON DELETE CASCADE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892040" y="3447288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</a:rPr>
              <a:t>Deleting a donor removes all their food listings and requests automatically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754880" y="3977640"/>
            <a:ext cx="402336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7C3AED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754880" y="3977640"/>
            <a:ext cx="1737360" cy="34747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754880" y="3977640"/>
            <a:ext cx="1737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CHECK (implicit)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4892040" y="4361688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</a:rPr>
              <a:t>remaining_quantity ≤ total_quantity enforced via application + transaction logic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F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Concurrency Control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Race Condition Problem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365760" y="1234440"/>
            <a:ext cx="8412480" cy="502920"/>
          </a:xfrm>
          <a:prstGeom prst="rect">
            <a:avLst/>
          </a:prstGeom>
          <a:solidFill>
            <a:srgbClr val="1F2937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261872"/>
            <a:ext cx="8046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59E0B"/>
                </a:solidFill>
              </a:rPr>
              <a:t>⚠   Scenario: Food listing has 10 kg remaining. Two NGOs request 8 kg simultaneously.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365760" y="192024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563EB"/>
                </a:solidFill>
              </a:rPr>
              <a:t>NGO-A Thread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1691640" y="2240280"/>
            <a:ext cx="0" cy="2468880"/>
          </a:xfrm>
          <a:prstGeom prst="line">
            <a:avLst/>
          </a:prstGeom>
          <a:noFill/>
          <a:ln w="12700">
            <a:solidFill>
              <a:srgbClr val="2563EB"/>
            </a:solidFill>
            <a:prstDash val="dash"/>
          </a:ln>
        </p:spPr>
      </p:sp>
      <p:sp>
        <p:nvSpPr>
          <p:cNvPr id="8" name="Text 6"/>
          <p:cNvSpPr/>
          <p:nvPr/>
        </p:nvSpPr>
        <p:spPr>
          <a:xfrm>
            <a:off x="3474720" y="192024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4ADE80"/>
                </a:solidFill>
              </a:rPr>
              <a:t>Database State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800600" y="2240280"/>
            <a:ext cx="0" cy="2468880"/>
          </a:xfrm>
          <a:prstGeom prst="line">
            <a:avLst/>
          </a:prstGeom>
          <a:noFill/>
          <a:ln w="12700">
            <a:solidFill>
              <a:srgbClr val="4ADE80"/>
            </a:solidFill>
            <a:prstDash val="dash"/>
          </a:ln>
        </p:spPr>
      </p:sp>
      <p:sp>
        <p:nvSpPr>
          <p:cNvPr id="10" name="Text 8"/>
          <p:cNvSpPr/>
          <p:nvPr/>
        </p:nvSpPr>
        <p:spPr>
          <a:xfrm>
            <a:off x="6583680" y="192024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87171"/>
                </a:solidFill>
              </a:rPr>
              <a:t>NGO-B Thread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909560" y="2240280"/>
            <a:ext cx="0" cy="2468880"/>
          </a:xfrm>
          <a:prstGeom prst="line">
            <a:avLst/>
          </a:prstGeom>
          <a:noFill/>
          <a:ln w="12700">
            <a:solidFill>
              <a:srgbClr val="F87171"/>
            </a:solidFill>
            <a:prstDash val="dash"/>
          </a:ln>
        </p:spPr>
      </p:sp>
      <p:sp>
        <p:nvSpPr>
          <p:cNvPr id="12" name="Text 10"/>
          <p:cNvSpPr/>
          <p:nvPr/>
        </p:nvSpPr>
        <p:spPr>
          <a:xfrm>
            <a:off x="411480" y="228600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remaining = 10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493008" y="2304288"/>
            <a:ext cx="2615184" cy="256032"/>
          </a:xfrm>
          <a:prstGeom prst="rect">
            <a:avLst/>
          </a:prstGeom>
          <a:solidFill>
            <a:srgbClr val="1F2937"/>
          </a:solidFill>
          <a:ln w="6350">
            <a:solidFill>
              <a:srgbClr val="4ADE8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520440" y="2304288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kg available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493008" y="2670048"/>
            <a:ext cx="2615184" cy="256032"/>
          </a:xfrm>
          <a:prstGeom prst="rect">
            <a:avLst/>
          </a:prstGeom>
          <a:solidFill>
            <a:srgbClr val="1F2937"/>
          </a:solidFill>
          <a:ln w="6350">
            <a:solidFill>
              <a:srgbClr val="4ADE8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520440" y="2670048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kg available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629400" y="265176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remaining = 10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11480" y="301752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Decides: allocate 8 kg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493008" y="3035808"/>
            <a:ext cx="2615184" cy="256032"/>
          </a:xfrm>
          <a:prstGeom prst="rect">
            <a:avLst/>
          </a:prstGeom>
          <a:solidFill>
            <a:srgbClr val="1F2937"/>
          </a:solidFill>
          <a:ln w="6350">
            <a:solidFill>
              <a:srgbClr val="4ADE8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520440" y="3035808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kg available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493008" y="3401568"/>
            <a:ext cx="2615184" cy="256032"/>
          </a:xfrm>
          <a:prstGeom prst="rect">
            <a:avLst/>
          </a:prstGeom>
          <a:solidFill>
            <a:srgbClr val="1F2937"/>
          </a:solidFill>
          <a:ln w="6350">
            <a:solidFill>
              <a:srgbClr val="4ADE8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520440" y="3401568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kg available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629400" y="338328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Decides: allocate 8 kg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11480" y="374904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UPDATE remaining = 2 ✓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493008" y="3767328"/>
            <a:ext cx="2615184" cy="256032"/>
          </a:xfrm>
          <a:prstGeom prst="rect">
            <a:avLst/>
          </a:prstGeom>
          <a:solidFill>
            <a:srgbClr val="7F1D1D"/>
          </a:solidFill>
          <a:ln w="6350">
            <a:solidFill>
              <a:srgbClr val="DC262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520440" y="3767328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CA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❌ NOW 2 kg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3493008" y="4133088"/>
            <a:ext cx="2615184" cy="256032"/>
          </a:xfrm>
          <a:prstGeom prst="rect">
            <a:avLst/>
          </a:prstGeom>
          <a:solidFill>
            <a:srgbClr val="7F1D1D"/>
          </a:solidFill>
          <a:ln w="6350">
            <a:solidFill>
              <a:srgbClr val="DC262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520440" y="4133088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CA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❌ -6 kg !!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629400" y="411480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CA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UPDATE remaining = -6 ✗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Concurrency Control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4ADE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Solution: SQL Transactions + Row-Level Locking (SELECT … FOR UPDATE)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65760" y="1207008"/>
            <a:ext cx="5120640" cy="3337560"/>
          </a:xfrm>
          <a:prstGeom prst="rect">
            <a:avLst/>
          </a:prstGeom>
          <a:solidFill>
            <a:srgbClr val="1E293B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252728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ADE80"/>
                </a:solidFill>
              </a:rPr>
              <a:t>Backend — routes/requests.js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02920" y="1600200"/>
            <a:ext cx="4754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await conn.beginTransaction();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502920" y="1947672"/>
            <a:ext cx="4754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Row-level lock — blocks other writers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502920" y="2121408"/>
            <a:ext cx="4754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[rows] = await conn.query(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502920" y="2295144"/>
            <a:ext cx="4754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`SELECT * FROM Food_Listings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02920" y="2468880"/>
            <a:ext cx="4754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WHERE food_id = ?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502920" y="2642616"/>
            <a:ext cx="4754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FOR UPDATE`, [food_id]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02920" y="2816352"/>
            <a:ext cx="4754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502920" y="3163824"/>
            <a:ext cx="4754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Safe: only one thread reads at a time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02920" y="3337560"/>
            <a:ext cx="4754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allocated =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502920" y="3511296"/>
            <a:ext cx="4754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Math.min(requested, remaining);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02920" y="3858768"/>
            <a:ext cx="4754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await conn.query(UPDATE Food_Listings ..);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502920" y="4032504"/>
            <a:ext cx="4754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await conn.query(INSERT INTO Requests ..);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502920" y="4206240"/>
            <a:ext cx="4754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await conn.query(INSERT INTO Transactions);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502920" y="4553712"/>
            <a:ext cx="4754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await conn.commit();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5669280" y="1371600"/>
            <a:ext cx="384048" cy="38404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669280" y="137160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F1A"/>
                </a:solidFill>
              </a:rPr>
              <a:t>1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172200" y="1335024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BEGIN TRANSACTION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172200" y="1609344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CA3AF"/>
                </a:solidFill>
              </a:rPr>
              <a:t>Wraps all DB operations in a single atomic unit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669280" y="2130552"/>
            <a:ext cx="384048" cy="384048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669280" y="213055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F1A"/>
                </a:solidFill>
              </a:rPr>
              <a:t>2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172200" y="2093976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SELECT … FOR UPDATE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172200" y="2368296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CA3AF"/>
                </a:solidFill>
              </a:rPr>
              <a:t>Acquires a row-level exclusive lock — other transactions block here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669280" y="2889504"/>
            <a:ext cx="384048" cy="38404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669280" y="288950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F1A"/>
                </a:solidFill>
              </a:rPr>
              <a:t>3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6172200" y="285292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Read &amp; Compute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172200" y="312724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CA3AF"/>
                </a:solidFill>
              </a:rPr>
              <a:t>Safely read remaining_qty and compute allocation amount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5669280" y="3648456"/>
            <a:ext cx="384048" cy="384048"/>
          </a:xfrm>
          <a:prstGeom prst="ellipse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669280" y="364845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F1A"/>
                </a:solidFill>
              </a:rPr>
              <a:t>4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6172200" y="36118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UPDATE + INSERT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6172200" y="38862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CA3AF"/>
                </a:solidFill>
              </a:rPr>
              <a:t>Decrement remaining_qty, insert Request row, insert Transaction row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5669280" y="4407408"/>
            <a:ext cx="384048" cy="384048"/>
          </a:xfrm>
          <a:prstGeom prst="ellipse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669280" y="440740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F1A"/>
                </a:solidFill>
              </a:rPr>
              <a:t>5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6172200" y="437083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COMMIT / ROLLBACK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6172200" y="464515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CA3AF"/>
                </a:solidFill>
              </a:rPr>
              <a:t>Lock released — next queued transaction can now proceed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365760" y="4736592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4ADE80"/>
                </a:solidFill>
              </a:rPr>
              <a:t>Guarantee: remaining_quantity can never go negative — even under 100 concurrent requests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D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ACID Transactions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B7280"/>
                </a:solidFill>
              </a:rPr>
              <a:t>Every food allocation is wrapped in a database transaction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65760" y="1234440"/>
            <a:ext cx="4114800" cy="1645920"/>
          </a:xfrm>
          <a:prstGeom prst="rect">
            <a:avLst/>
          </a:prstGeom>
          <a:solidFill>
            <a:srgbClr val="F0FDF4"/>
          </a:solidFill>
          <a:ln w="19050">
            <a:solidFill>
              <a:srgbClr val="1A7A4A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1234440"/>
            <a:ext cx="8229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1A7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</a:t>
            </a:r>
            <a:endParaRPr lang="en-US" sz="5200" dirty="0"/>
          </a:p>
        </p:txBody>
      </p:sp>
      <p:sp>
        <p:nvSpPr>
          <p:cNvPr id="6" name="Shape 4"/>
          <p:cNvSpPr/>
          <p:nvPr/>
        </p:nvSpPr>
        <p:spPr>
          <a:xfrm>
            <a:off x="1188720" y="1234440"/>
            <a:ext cx="36576" cy="1645920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325880" y="1399032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7A4A"/>
                </a:solidFill>
              </a:rPr>
              <a:t>Atomicity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325880" y="1828800"/>
            <a:ext cx="2971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</a:rPr>
              <a:t>All three operations succeed together or all roll back: UPDATE Food_Listings, INSERT Requests, INSERT Transactions. No partial state.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754880" y="1234440"/>
            <a:ext cx="4114800" cy="1645920"/>
          </a:xfrm>
          <a:prstGeom prst="rect">
            <a:avLst/>
          </a:prstGeom>
          <a:solidFill>
            <a:srgbClr val="F0FDF4"/>
          </a:solidFill>
          <a:ln w="19050">
            <a:solidFill>
              <a:srgbClr val="2563EB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754880" y="1234440"/>
            <a:ext cx="8229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2563E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</a:t>
            </a:r>
            <a:endParaRPr lang="en-US" sz="5200" dirty="0"/>
          </a:p>
        </p:txBody>
      </p:sp>
      <p:sp>
        <p:nvSpPr>
          <p:cNvPr id="11" name="Shape 9"/>
          <p:cNvSpPr/>
          <p:nvPr/>
        </p:nvSpPr>
        <p:spPr>
          <a:xfrm>
            <a:off x="5577840" y="1234440"/>
            <a:ext cx="36576" cy="16459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715000" y="1399032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563EB"/>
                </a:solidFill>
              </a:rPr>
              <a:t>Consistency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715000" y="1828800"/>
            <a:ext cx="2971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</a:rPr>
              <a:t>remaining_quantity is always ≥ 0. Status transitions (available → partially_allocated → fully_allocated) are enforced within the same transaction.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65760" y="3063240"/>
            <a:ext cx="4114800" cy="1645920"/>
          </a:xfrm>
          <a:prstGeom prst="rect">
            <a:avLst/>
          </a:prstGeom>
          <a:solidFill>
            <a:srgbClr val="F0FDF4"/>
          </a:solidFill>
          <a:ln w="19050">
            <a:solidFill>
              <a:srgbClr val="7C3AED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365760" y="3063240"/>
            <a:ext cx="8229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7C3AE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</a:t>
            </a:r>
            <a:endParaRPr lang="en-US" sz="5200" dirty="0"/>
          </a:p>
        </p:txBody>
      </p:sp>
      <p:sp>
        <p:nvSpPr>
          <p:cNvPr id="16" name="Shape 14"/>
          <p:cNvSpPr/>
          <p:nvPr/>
        </p:nvSpPr>
        <p:spPr>
          <a:xfrm>
            <a:off x="1188720" y="3063240"/>
            <a:ext cx="36576" cy="16459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325880" y="3227832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7C3AED"/>
                </a:solidFill>
              </a:rPr>
              <a:t>Isolation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325880" y="3657600"/>
            <a:ext cx="2971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</a:rPr>
              <a:t>SELECT … FOR UPDATE ensures concurrent NGO requests serialize. One sees stale data unless the lock is released — prevents dirty reads.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754880" y="3063240"/>
            <a:ext cx="4114800" cy="1645920"/>
          </a:xfrm>
          <a:prstGeom prst="rect">
            <a:avLst/>
          </a:prstGeom>
          <a:solidFill>
            <a:srgbClr val="F0FDF4"/>
          </a:solidFill>
          <a:ln w="19050">
            <a:solidFill>
              <a:srgbClr val="F59E0B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754880" y="3063240"/>
            <a:ext cx="8229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</a:t>
            </a:r>
            <a:endParaRPr lang="en-US" sz="5200" dirty="0"/>
          </a:p>
        </p:txBody>
      </p:sp>
      <p:sp>
        <p:nvSpPr>
          <p:cNvPr id="21" name="Shape 19"/>
          <p:cNvSpPr/>
          <p:nvPr/>
        </p:nvSpPr>
        <p:spPr>
          <a:xfrm>
            <a:off x="5577840" y="3063240"/>
            <a:ext cx="36576" cy="16459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715000" y="3227832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59E0B"/>
                </a:solidFill>
              </a:rPr>
              <a:t>Durability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5715000" y="3657600"/>
            <a:ext cx="2971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</a:rPr>
              <a:t>Once committed, the allocation record in Transactions is permanent. Even a server crash cannot undo a completed donation.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F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SQL Joins &amp; Priority Query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9CA3AF"/>
                </a:solidFill>
              </a:rPr>
              <a:t>Multi-table JOIN with computed priority score using CASE expression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65760" y="1170432"/>
            <a:ext cx="5212080" cy="3456432"/>
          </a:xfrm>
          <a:prstGeom prst="rect">
            <a:avLst/>
          </a:prstGeom>
          <a:solidFill>
            <a:srgbClr val="1E293B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216152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ADE80"/>
                </a:solidFill>
              </a:rPr>
              <a:t>/api/food  GET — NGO Browse Query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75488" y="1536192"/>
            <a:ext cx="4983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20" dirty="0">
                <a:solidFill>
                  <a:srgbClr val="9CA3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f.*, c.city_name, u.name AS donor_name,</a:t>
            </a:r>
            <a:endParaRPr lang="en-US" sz="920" dirty="0"/>
          </a:p>
        </p:txBody>
      </p:sp>
      <p:sp>
        <p:nvSpPr>
          <p:cNvPr id="7" name="Text 5"/>
          <p:cNvSpPr/>
          <p:nvPr/>
        </p:nvSpPr>
        <p:spPr>
          <a:xfrm>
            <a:off x="475488" y="1719072"/>
            <a:ext cx="4983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2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CASE</a:t>
            </a:r>
            <a:endParaRPr lang="en-US" sz="920" dirty="0"/>
          </a:p>
        </p:txBody>
      </p:sp>
      <p:sp>
        <p:nvSpPr>
          <p:cNvPr id="8" name="Text 6"/>
          <p:cNvSpPr/>
          <p:nvPr/>
        </p:nvSpPr>
        <p:spPr>
          <a:xfrm>
            <a:off x="475488" y="1901952"/>
            <a:ext cx="4983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2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WHEN f.expiry_time &lt;=</a:t>
            </a:r>
            <a:endParaRPr lang="en-US" sz="920" dirty="0"/>
          </a:p>
        </p:txBody>
      </p:sp>
      <p:sp>
        <p:nvSpPr>
          <p:cNvPr id="9" name="Text 7"/>
          <p:cNvSpPr/>
          <p:nvPr/>
        </p:nvSpPr>
        <p:spPr>
          <a:xfrm>
            <a:off x="475488" y="2084832"/>
            <a:ext cx="4983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2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DATE_ADD(NOW(), INTERVAL 5 HOUR)</a:t>
            </a:r>
            <a:endParaRPr lang="en-US" sz="920" dirty="0"/>
          </a:p>
        </p:txBody>
      </p:sp>
      <p:sp>
        <p:nvSpPr>
          <p:cNvPr id="10" name="Text 8"/>
          <p:cNvSpPr/>
          <p:nvPr/>
        </p:nvSpPr>
        <p:spPr>
          <a:xfrm>
            <a:off x="475488" y="2267712"/>
            <a:ext cx="4983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2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THEN 4  -- expiry urgent</a:t>
            </a:r>
            <a:endParaRPr lang="en-US" sz="920" dirty="0"/>
          </a:p>
        </p:txBody>
      </p:sp>
      <p:sp>
        <p:nvSpPr>
          <p:cNvPr id="11" name="Text 9"/>
          <p:cNvSpPr/>
          <p:nvPr/>
        </p:nvSpPr>
        <p:spPr>
          <a:xfrm>
            <a:off x="475488" y="2450592"/>
            <a:ext cx="4983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2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WHEN f.pincode = ?   THEN 3  -- same pin</a:t>
            </a:r>
            <a:endParaRPr lang="en-US" sz="920" dirty="0"/>
          </a:p>
        </p:txBody>
      </p:sp>
      <p:sp>
        <p:nvSpPr>
          <p:cNvPr id="12" name="Text 10"/>
          <p:cNvSpPr/>
          <p:nvPr/>
        </p:nvSpPr>
        <p:spPr>
          <a:xfrm>
            <a:off x="475488" y="2633472"/>
            <a:ext cx="4983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2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WHEN f.city_id = ?   THEN 2  -- same city</a:t>
            </a:r>
            <a:endParaRPr lang="en-US" sz="920" dirty="0"/>
          </a:p>
        </p:txBody>
      </p:sp>
      <p:sp>
        <p:nvSpPr>
          <p:cNvPr id="13" name="Text 11"/>
          <p:cNvSpPr/>
          <p:nvPr/>
        </p:nvSpPr>
        <p:spPr>
          <a:xfrm>
            <a:off x="475488" y="2816352"/>
            <a:ext cx="4983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2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WHEN f.state = ?     THEN 1  -- same state</a:t>
            </a:r>
            <a:endParaRPr lang="en-US" sz="920" dirty="0"/>
          </a:p>
        </p:txBody>
      </p:sp>
      <p:sp>
        <p:nvSpPr>
          <p:cNvPr id="14" name="Text 12"/>
          <p:cNvSpPr/>
          <p:nvPr/>
        </p:nvSpPr>
        <p:spPr>
          <a:xfrm>
            <a:off x="475488" y="2999232"/>
            <a:ext cx="4983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2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ELSE 0</a:t>
            </a:r>
            <a:endParaRPr lang="en-US" sz="920" dirty="0"/>
          </a:p>
        </p:txBody>
      </p:sp>
      <p:sp>
        <p:nvSpPr>
          <p:cNvPr id="15" name="Text 13"/>
          <p:cNvSpPr/>
          <p:nvPr/>
        </p:nvSpPr>
        <p:spPr>
          <a:xfrm>
            <a:off x="475488" y="3182112"/>
            <a:ext cx="4983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2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END AS priority_score</a:t>
            </a:r>
            <a:endParaRPr lang="en-US" sz="920" dirty="0"/>
          </a:p>
        </p:txBody>
      </p:sp>
      <p:sp>
        <p:nvSpPr>
          <p:cNvPr id="16" name="Text 14"/>
          <p:cNvSpPr/>
          <p:nvPr/>
        </p:nvSpPr>
        <p:spPr>
          <a:xfrm>
            <a:off x="475488" y="3364992"/>
            <a:ext cx="4983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2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Food_Listings f</a:t>
            </a:r>
            <a:endParaRPr lang="en-US" sz="920" dirty="0"/>
          </a:p>
        </p:txBody>
      </p:sp>
      <p:sp>
        <p:nvSpPr>
          <p:cNvPr id="17" name="Text 15"/>
          <p:cNvSpPr/>
          <p:nvPr/>
        </p:nvSpPr>
        <p:spPr>
          <a:xfrm>
            <a:off x="475488" y="3547872"/>
            <a:ext cx="4983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2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LEFT JOIN Cities c ON f.city_id = c.city_id</a:t>
            </a:r>
            <a:endParaRPr lang="en-US" sz="920" dirty="0"/>
          </a:p>
        </p:txBody>
      </p:sp>
      <p:sp>
        <p:nvSpPr>
          <p:cNvPr id="18" name="Text 16"/>
          <p:cNvSpPr/>
          <p:nvPr/>
        </p:nvSpPr>
        <p:spPr>
          <a:xfrm>
            <a:off x="475488" y="3730752"/>
            <a:ext cx="4983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2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LEFT JOIN Users u  ON f.donor_id = u.user_id</a:t>
            </a:r>
            <a:endParaRPr lang="en-US" sz="920" dirty="0"/>
          </a:p>
        </p:txBody>
      </p:sp>
      <p:sp>
        <p:nvSpPr>
          <p:cNvPr id="19" name="Text 17"/>
          <p:cNvSpPr/>
          <p:nvPr/>
        </p:nvSpPr>
        <p:spPr>
          <a:xfrm>
            <a:off x="475488" y="3913632"/>
            <a:ext cx="4983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20" dirty="0">
                <a:solidFill>
                  <a:srgbClr val="9CA3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 f.status IN ('available','partially_allocated')</a:t>
            </a:r>
            <a:endParaRPr lang="en-US" sz="920" dirty="0"/>
          </a:p>
        </p:txBody>
      </p:sp>
      <p:sp>
        <p:nvSpPr>
          <p:cNvPr id="20" name="Text 18"/>
          <p:cNvSpPr/>
          <p:nvPr/>
        </p:nvSpPr>
        <p:spPr>
          <a:xfrm>
            <a:off x="475488" y="4096512"/>
            <a:ext cx="4983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20" dirty="0">
                <a:solidFill>
                  <a:srgbClr val="9CA3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AND f.expiry_time &gt; NOW()</a:t>
            </a:r>
            <a:endParaRPr lang="en-US" sz="920" dirty="0"/>
          </a:p>
        </p:txBody>
      </p:sp>
      <p:sp>
        <p:nvSpPr>
          <p:cNvPr id="21" name="Text 19"/>
          <p:cNvSpPr/>
          <p:nvPr/>
        </p:nvSpPr>
        <p:spPr>
          <a:xfrm>
            <a:off x="475488" y="4279392"/>
            <a:ext cx="4983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2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 BY priority_score DESC, f.expiry_time ASC;</a:t>
            </a:r>
            <a:endParaRPr lang="en-US" sz="920" dirty="0"/>
          </a:p>
        </p:txBody>
      </p:sp>
      <p:sp>
        <p:nvSpPr>
          <p:cNvPr id="22" name="Text 20"/>
          <p:cNvSpPr/>
          <p:nvPr/>
        </p:nvSpPr>
        <p:spPr>
          <a:xfrm>
            <a:off x="5760720" y="1170432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Priority Score Breakdown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5760720" y="1600200"/>
            <a:ext cx="384048" cy="384048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760720" y="160020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263640" y="1609344"/>
            <a:ext cx="2606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Expiry ≤ 5 hours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263640" y="1847088"/>
            <a:ext cx="2606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</a:rPr>
              <a:t>Highest urgency — shown first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5760720" y="2194560"/>
            <a:ext cx="384048" cy="38404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760720" y="219456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6263640" y="2203704"/>
            <a:ext cx="2606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Same Pincode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263640" y="2441448"/>
            <a:ext cx="2606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</a:rPr>
              <a:t>Nearest food geographically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5760720" y="2788920"/>
            <a:ext cx="384048" cy="38404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760720" y="278892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263640" y="2798064"/>
            <a:ext cx="2606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Same City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263640" y="3035808"/>
            <a:ext cx="2606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</a:rPr>
              <a:t>Local availability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5760720" y="3383280"/>
            <a:ext cx="384048" cy="384048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760720" y="338328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6263640" y="3392424"/>
            <a:ext cx="2606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Same State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6263640" y="3630168"/>
            <a:ext cx="2606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</a:rPr>
              <a:t>Regional fallback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5760720" y="3977640"/>
            <a:ext cx="384048" cy="384048"/>
          </a:xfrm>
          <a:prstGeom prst="ellipse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760720" y="397764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0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6263640" y="3986784"/>
            <a:ext cx="2606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Other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6263640" y="4224528"/>
            <a:ext cx="2606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</a:rPr>
              <a:t>Shown last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365760" y="4754880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B5563"/>
                </a:solidFill>
              </a:rPr>
              <a:t>Also uses: LEFT JOIN across 3 tables · parameterized queries (prevents SQL injection) · indexed status + expiry_time columns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0FD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D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Authentication &amp; Authorization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365760" y="1005840"/>
            <a:ext cx="2743200" cy="3840480"/>
          </a:xfrm>
          <a:prstGeom prst="rect">
            <a:avLst/>
          </a:prstGeom>
          <a:solidFill>
            <a:srgbClr val="FFFFFF"/>
          </a:solidFill>
          <a:ln w="19050">
            <a:solidFill>
              <a:srgbClr val="1A7A4A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365760" y="1005840"/>
            <a:ext cx="2743200" cy="502920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" y="1078992"/>
            <a:ext cx="347472" cy="34747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14400" y="105156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Password Hashing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548640" y="1691640"/>
            <a:ext cx="137160" cy="137160"/>
          </a:xfrm>
          <a:prstGeom prst="ellipse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77240" y="1664208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bcryptjs with salt rounds = 10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548640" y="2377440"/>
            <a:ext cx="137160" cy="137160"/>
          </a:xfrm>
          <a:prstGeom prst="ellipse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77240" y="2350008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Plaintext password never stored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548640" y="3063240"/>
            <a:ext cx="137160" cy="137160"/>
          </a:xfrm>
          <a:prstGeom prst="ellipse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77240" y="3035808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Hash comparison on login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548640" y="3749040"/>
            <a:ext cx="137160" cy="137160"/>
          </a:xfrm>
          <a:prstGeom prst="ellipse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77240" y="3721608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Brute force resistant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3291840" y="1005840"/>
            <a:ext cx="2743200" cy="3840480"/>
          </a:xfrm>
          <a:prstGeom prst="rect">
            <a:avLst/>
          </a:prstGeom>
          <a:solidFill>
            <a:srgbClr val="FFFFFF"/>
          </a:solidFill>
          <a:ln w="19050">
            <a:solidFill>
              <a:srgbClr val="F59E0B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3291840" y="1005840"/>
            <a:ext cx="2743200" cy="5029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01568" y="1078992"/>
            <a:ext cx="347472" cy="347472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3840480" y="105156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JWT Tokens</a:t>
            </a:r>
            <a:endParaRPr lang="en-US" sz="1300" dirty="0"/>
          </a:p>
        </p:txBody>
      </p:sp>
      <p:sp>
        <p:nvSpPr>
          <p:cNvPr id="19" name="Shape 15"/>
          <p:cNvSpPr/>
          <p:nvPr/>
        </p:nvSpPr>
        <p:spPr>
          <a:xfrm>
            <a:off x="3474720" y="1691640"/>
            <a:ext cx="137160" cy="13716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3703320" y="1664208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Signed with server secret</a:t>
            </a:r>
            <a:endParaRPr lang="en-US" sz="1100" dirty="0"/>
          </a:p>
        </p:txBody>
      </p:sp>
      <p:sp>
        <p:nvSpPr>
          <p:cNvPr id="21" name="Shape 17"/>
          <p:cNvSpPr/>
          <p:nvPr/>
        </p:nvSpPr>
        <p:spPr>
          <a:xfrm>
            <a:off x="3474720" y="2377440"/>
            <a:ext cx="137160" cy="13716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3703320" y="2350008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7-day expiry window</a:t>
            </a:r>
            <a:endParaRPr lang="en-US" sz="1100" dirty="0"/>
          </a:p>
        </p:txBody>
      </p:sp>
      <p:sp>
        <p:nvSpPr>
          <p:cNvPr id="23" name="Shape 19"/>
          <p:cNvSpPr/>
          <p:nvPr/>
        </p:nvSpPr>
        <p:spPr>
          <a:xfrm>
            <a:off x="3474720" y="3063240"/>
            <a:ext cx="137160" cy="13716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3703320" y="3035808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Payload: user_id, role, city_id</a:t>
            </a:r>
            <a:endParaRPr lang="en-US" sz="1100" dirty="0"/>
          </a:p>
        </p:txBody>
      </p:sp>
      <p:sp>
        <p:nvSpPr>
          <p:cNvPr id="25" name="Shape 21"/>
          <p:cNvSpPr/>
          <p:nvPr/>
        </p:nvSpPr>
        <p:spPr>
          <a:xfrm>
            <a:off x="3474720" y="3749040"/>
            <a:ext cx="137160" cy="13716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3703320" y="3721608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Stateless — no session store</a:t>
            </a:r>
            <a:endParaRPr lang="en-US" sz="1100" dirty="0"/>
          </a:p>
        </p:txBody>
      </p:sp>
      <p:sp>
        <p:nvSpPr>
          <p:cNvPr id="27" name="Shape 23"/>
          <p:cNvSpPr/>
          <p:nvPr/>
        </p:nvSpPr>
        <p:spPr>
          <a:xfrm>
            <a:off x="6217920" y="1005840"/>
            <a:ext cx="2743200" cy="3840480"/>
          </a:xfrm>
          <a:prstGeom prst="rect">
            <a:avLst/>
          </a:prstGeom>
          <a:solidFill>
            <a:srgbClr val="FFFFFF"/>
          </a:solidFill>
          <a:ln w="19050">
            <a:solidFill>
              <a:srgbClr val="7C3AED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8" name="Shape 24"/>
          <p:cNvSpPr/>
          <p:nvPr/>
        </p:nvSpPr>
        <p:spPr>
          <a:xfrm>
            <a:off x="6217920" y="1005840"/>
            <a:ext cx="2743200" cy="5029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pic>
        <p:nvPicPr>
          <p:cNvPr id="2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27648" y="1078992"/>
            <a:ext cx="347472" cy="347472"/>
          </a:xfrm>
          <a:prstGeom prst="rect">
            <a:avLst/>
          </a:prstGeom>
        </p:spPr>
      </p:pic>
      <p:sp>
        <p:nvSpPr>
          <p:cNvPr id="30" name="Text 25"/>
          <p:cNvSpPr/>
          <p:nvPr/>
        </p:nvSpPr>
        <p:spPr>
          <a:xfrm>
            <a:off x="6766560" y="105156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Role-Based Access</a:t>
            </a:r>
            <a:endParaRPr lang="en-US" sz="1300" dirty="0"/>
          </a:p>
        </p:txBody>
      </p:sp>
      <p:sp>
        <p:nvSpPr>
          <p:cNvPr id="31" name="Shape 26"/>
          <p:cNvSpPr/>
          <p:nvPr/>
        </p:nvSpPr>
        <p:spPr>
          <a:xfrm>
            <a:off x="6400800" y="1691640"/>
            <a:ext cx="137160" cy="13716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2" name="Text 27"/>
          <p:cNvSpPr/>
          <p:nvPr/>
        </p:nvSpPr>
        <p:spPr>
          <a:xfrm>
            <a:off x="6629400" y="1664208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requireRole('donor') middleware</a:t>
            </a:r>
            <a:endParaRPr lang="en-US" sz="1100" dirty="0"/>
          </a:p>
        </p:txBody>
      </p:sp>
      <p:sp>
        <p:nvSpPr>
          <p:cNvPr id="33" name="Shape 28"/>
          <p:cNvSpPr/>
          <p:nvPr/>
        </p:nvSpPr>
        <p:spPr>
          <a:xfrm>
            <a:off x="6400800" y="2377440"/>
            <a:ext cx="137160" cy="13716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4" name="Text 29"/>
          <p:cNvSpPr/>
          <p:nvPr/>
        </p:nvSpPr>
        <p:spPr>
          <a:xfrm>
            <a:off x="6629400" y="2350008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requireRole('ngo') middleware</a:t>
            </a:r>
            <a:endParaRPr lang="en-US" sz="1100" dirty="0"/>
          </a:p>
        </p:txBody>
      </p:sp>
      <p:sp>
        <p:nvSpPr>
          <p:cNvPr id="35" name="Shape 30"/>
          <p:cNvSpPr/>
          <p:nvPr/>
        </p:nvSpPr>
        <p:spPr>
          <a:xfrm>
            <a:off x="6400800" y="3063240"/>
            <a:ext cx="137160" cy="13716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6" name="Text 31"/>
          <p:cNvSpPr/>
          <p:nvPr/>
        </p:nvSpPr>
        <p:spPr>
          <a:xfrm>
            <a:off x="6629400" y="3035808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403 Forbidden on role mismatch</a:t>
            </a:r>
            <a:endParaRPr lang="en-US" sz="1100" dirty="0"/>
          </a:p>
        </p:txBody>
      </p:sp>
      <p:sp>
        <p:nvSpPr>
          <p:cNvPr id="37" name="Shape 32"/>
          <p:cNvSpPr/>
          <p:nvPr/>
        </p:nvSpPr>
        <p:spPr>
          <a:xfrm>
            <a:off x="6400800" y="3749040"/>
            <a:ext cx="137160" cy="13716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8" name="Text 33"/>
          <p:cNvSpPr/>
          <p:nvPr/>
        </p:nvSpPr>
        <p:spPr>
          <a:xfrm>
            <a:off x="6629400" y="3721608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Route guards in React frontend</a:t>
            </a:r>
            <a:endParaRPr lang="en-US" sz="1100" dirty="0"/>
          </a:p>
        </p:txBody>
      </p:sp>
      <p:sp>
        <p:nvSpPr>
          <p:cNvPr id="39" name="Shape 34"/>
          <p:cNvSpPr/>
          <p:nvPr/>
        </p:nvSpPr>
        <p:spPr>
          <a:xfrm>
            <a:off x="365760" y="4736592"/>
            <a:ext cx="8412480" cy="274320"/>
          </a:xfrm>
          <a:prstGeom prst="rect">
            <a:avLst/>
          </a:prstGeom>
          <a:solidFill>
            <a:srgbClr val="DCFCE7"/>
          </a:solidFill>
          <a:ln w="6350">
            <a:solidFill>
              <a:srgbClr val="1A7A4A"/>
            </a:solidFill>
            <a:prstDash val="solid"/>
          </a:ln>
        </p:spPr>
      </p:sp>
      <p:sp>
        <p:nvSpPr>
          <p:cNvPr id="40" name="Text 35"/>
          <p:cNvSpPr/>
          <p:nvPr/>
        </p:nvSpPr>
        <p:spPr>
          <a:xfrm>
            <a:off x="502920" y="475488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7A4A"/>
                </a:solidFill>
              </a:rPr>
              <a:t>Frontend: Axios interceptor automatically attaches Bearer token to every API request — no manual token management in components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D1F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Tech Stack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320040" y="1005840"/>
            <a:ext cx="2743200" cy="3931920"/>
          </a:xfrm>
          <a:prstGeom prst="rect">
            <a:avLst/>
          </a:prstGeom>
          <a:solidFill>
            <a:srgbClr val="111827"/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1005840"/>
            <a:ext cx="2743200" cy="4572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100584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Frontend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02920" y="1664208"/>
            <a:ext cx="128016" cy="128016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22376" y="1627632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1D5DB"/>
                </a:solidFill>
              </a:rPr>
              <a:t>React 18 + Vite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02920" y="2185416"/>
            <a:ext cx="128016" cy="128016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22376" y="2148840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1D5DB"/>
                </a:solidFill>
              </a:rPr>
              <a:t>Tailwind CSS 3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02920" y="2706624"/>
            <a:ext cx="128016" cy="128016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22376" y="2670048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1D5DB"/>
                </a:solidFill>
              </a:rPr>
              <a:t>React Router v6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02920" y="3227832"/>
            <a:ext cx="128016" cy="128016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22376" y="3191256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1D5DB"/>
                </a:solidFill>
              </a:rPr>
              <a:t>Axios + JWT interceptor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02920" y="3749040"/>
            <a:ext cx="128016" cy="128016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22376" y="3712464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1D5DB"/>
                </a:solidFill>
              </a:rPr>
              <a:t>react-hot-toast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02920" y="4270248"/>
            <a:ext cx="128016" cy="128016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22376" y="4233672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1D5DB"/>
                </a:solidFill>
              </a:rPr>
              <a:t>lucide-react icons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246120" y="1005840"/>
            <a:ext cx="2743200" cy="3931920"/>
          </a:xfrm>
          <a:prstGeom prst="rect">
            <a:avLst/>
          </a:prstGeom>
          <a:solidFill>
            <a:srgbClr val="111827"/>
          </a:solidFill>
          <a:ln w="19050">
            <a:solidFill>
              <a:srgbClr val="1A7A4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246120" y="1005840"/>
            <a:ext cx="2743200" cy="457200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46120" y="100584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Backend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3429000" y="1664208"/>
            <a:ext cx="128016" cy="128016"/>
          </a:xfrm>
          <a:prstGeom prst="ellipse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48456" y="1627632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1D5DB"/>
                </a:solidFill>
              </a:rPr>
              <a:t>Node.js + Express 4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429000" y="2185416"/>
            <a:ext cx="128016" cy="128016"/>
          </a:xfrm>
          <a:prstGeom prst="ellipse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48456" y="2148840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1D5DB"/>
                </a:solidFill>
              </a:rPr>
              <a:t>mysql2 (promise pool)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429000" y="2706624"/>
            <a:ext cx="128016" cy="128016"/>
          </a:xfrm>
          <a:prstGeom prst="ellipse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48456" y="2670048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1D5DB"/>
                </a:solidFill>
              </a:rPr>
              <a:t>bcryptjs (password hash)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429000" y="3227832"/>
            <a:ext cx="128016" cy="128016"/>
          </a:xfrm>
          <a:prstGeom prst="ellipse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648456" y="3191256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1D5DB"/>
                </a:solidFill>
              </a:rPr>
              <a:t>jsonwebtoken (JWT)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429000" y="3749040"/>
            <a:ext cx="128016" cy="128016"/>
          </a:xfrm>
          <a:prstGeom prst="ellipse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48456" y="3712464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1D5DB"/>
                </a:solidFill>
              </a:rPr>
              <a:t>CORS middleware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29000" y="4270248"/>
            <a:ext cx="128016" cy="128016"/>
          </a:xfrm>
          <a:prstGeom prst="ellipse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648456" y="4233672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1D5DB"/>
                </a:solidFill>
              </a:rPr>
              <a:t>RESTful API design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6172200" y="1005840"/>
            <a:ext cx="2743200" cy="3931920"/>
          </a:xfrm>
          <a:prstGeom prst="rect">
            <a:avLst/>
          </a:prstGeom>
          <a:solidFill>
            <a:srgbClr val="111827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172200" y="1005840"/>
            <a:ext cx="2743200" cy="4572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172200" y="100584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Database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6355080" y="1664208"/>
            <a:ext cx="128016" cy="12801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574536" y="1627632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1D5DB"/>
                </a:solidFill>
              </a:rPr>
              <a:t>MySQL 8.0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6355080" y="2185416"/>
            <a:ext cx="128016" cy="12801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574536" y="2148840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1D5DB"/>
                </a:solidFill>
              </a:rPr>
              <a:t>5 normalized tables (3NF)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6355080" y="2706624"/>
            <a:ext cx="128016" cy="12801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574536" y="2670048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1D5DB"/>
                </a:solidFill>
              </a:rPr>
              <a:t>Row-level locking (FOR UPDATE)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6355080" y="3227832"/>
            <a:ext cx="128016" cy="12801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574536" y="3191256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1D5DB"/>
                </a:solidFill>
              </a:rPr>
              <a:t>SQL Transactions (ACID)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6355080" y="3749040"/>
            <a:ext cx="128016" cy="12801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574536" y="3712464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1D5DB"/>
                </a:solidFill>
              </a:rPr>
              <a:t>Foreign key constraints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6355080" y="4270248"/>
            <a:ext cx="128016" cy="12801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574536" y="4233672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1D5DB"/>
                </a:solidFill>
              </a:rPr>
              <a:t>ENUM + AUTO_INCREMENT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320040" y="4718304"/>
            <a:ext cx="8503920" cy="292608"/>
          </a:xfrm>
          <a:prstGeom prst="rect">
            <a:avLst/>
          </a:prstGeom>
          <a:solidFill>
            <a:srgbClr val="1F2937"/>
          </a:solidFill>
          <a:ln w="6350">
            <a:solidFill>
              <a:srgbClr val="4ADE8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57200" y="473659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4ADE80"/>
                </a:solidFill>
              </a:rPr>
              <a:t>React ↔ Axios → Express (JWT auth) → MySQL Connection Pool → Transactions → Response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D1F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-731520"/>
            <a:ext cx="4572000" cy="4572000"/>
          </a:xfrm>
          <a:prstGeom prst="ellipse">
            <a:avLst/>
          </a:prstGeom>
          <a:solidFill>
            <a:srgbClr val="1A7A4A">
              <a:alpha val="20000"/>
            </a:srgbClr>
          </a:solidFill>
          <a:ln w="12700">
            <a:solidFill>
              <a:srgbClr val="1A7A4A">
                <a:alpha val="20000"/>
              </a:srgbClr>
            </a:solidFill>
            <a:prstDash val="solid"/>
          </a:ln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502920"/>
            <a:ext cx="502920" cy="5029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88720" y="45720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Summary</a:t>
            </a:r>
            <a:endParaRPr lang="en-US" sz="3600" dirty="0"/>
          </a:p>
        </p:txBody>
      </p:sp>
      <p:sp>
        <p:nvSpPr>
          <p:cNvPr id="5" name="Shape 2"/>
          <p:cNvSpPr/>
          <p:nvPr/>
        </p:nvSpPr>
        <p:spPr>
          <a:xfrm>
            <a:off x="365760" y="1234440"/>
            <a:ext cx="4206240" cy="749808"/>
          </a:xfrm>
          <a:prstGeom prst="rect">
            <a:avLst/>
          </a:prstGeom>
          <a:solidFill>
            <a:srgbClr val="111827"/>
          </a:solidFill>
          <a:ln w="6350">
            <a:solidFill>
              <a:srgbClr val="4ADE80"/>
            </a:solidFill>
            <a:prstDash val="solid"/>
          </a:ln>
        </p:spPr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488" y="1453896"/>
            <a:ext cx="310896" cy="310896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896112" y="1325880"/>
            <a:ext cx="3520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ADE80"/>
                </a:solidFill>
              </a:rPr>
              <a:t>3NF Normalization</a:t>
            </a:r>
            <a:endParaRPr lang="en-US" sz="1200" dirty="0"/>
          </a:p>
        </p:txBody>
      </p:sp>
      <p:sp>
        <p:nvSpPr>
          <p:cNvPr id="8" name="Text 4"/>
          <p:cNvSpPr/>
          <p:nvPr/>
        </p:nvSpPr>
        <p:spPr>
          <a:xfrm>
            <a:off x="896112" y="1645920"/>
            <a:ext cx="3520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CA3AF"/>
                </a:solidFill>
              </a:rPr>
              <a:t>Cities table separated; no transitive dependencies across 5 tables</a:t>
            </a:r>
            <a:endParaRPr lang="en-US" sz="1050" dirty="0"/>
          </a:p>
        </p:txBody>
      </p:sp>
      <p:sp>
        <p:nvSpPr>
          <p:cNvPr id="9" name="Shape 5"/>
          <p:cNvSpPr/>
          <p:nvPr/>
        </p:nvSpPr>
        <p:spPr>
          <a:xfrm>
            <a:off x="365760" y="2121408"/>
            <a:ext cx="4206240" cy="749808"/>
          </a:xfrm>
          <a:prstGeom prst="rect">
            <a:avLst/>
          </a:prstGeom>
          <a:solidFill>
            <a:srgbClr val="111827"/>
          </a:solidFill>
          <a:ln w="6350">
            <a:solidFill>
              <a:srgbClr val="4ADE80"/>
            </a:solidFill>
            <a:prstDash val="solid"/>
          </a:ln>
        </p:spPr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488" y="2340864"/>
            <a:ext cx="310896" cy="310896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896112" y="2212848"/>
            <a:ext cx="3520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ADE80"/>
                </a:solidFill>
              </a:rPr>
              <a:t>Primary &amp; Foreign Keys</a:t>
            </a:r>
            <a:endParaRPr lang="en-US" sz="1200" dirty="0"/>
          </a:p>
        </p:txBody>
      </p:sp>
      <p:sp>
        <p:nvSpPr>
          <p:cNvPr id="12" name="Text 7"/>
          <p:cNvSpPr/>
          <p:nvPr/>
        </p:nvSpPr>
        <p:spPr>
          <a:xfrm>
            <a:off x="896112" y="2532888"/>
            <a:ext cx="3520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CA3AF"/>
                </a:solidFill>
              </a:rPr>
              <a:t>Referential integrity enforced with CASCADE / SET NULL</a:t>
            </a:r>
            <a:endParaRPr lang="en-US" sz="1050" dirty="0"/>
          </a:p>
        </p:txBody>
      </p:sp>
      <p:sp>
        <p:nvSpPr>
          <p:cNvPr id="13" name="Shape 8"/>
          <p:cNvSpPr/>
          <p:nvPr/>
        </p:nvSpPr>
        <p:spPr>
          <a:xfrm>
            <a:off x="365760" y="3008376"/>
            <a:ext cx="4206240" cy="749808"/>
          </a:xfrm>
          <a:prstGeom prst="rect">
            <a:avLst/>
          </a:prstGeom>
          <a:solidFill>
            <a:srgbClr val="111827"/>
          </a:solidFill>
          <a:ln w="6350">
            <a:solidFill>
              <a:srgbClr val="4ADE80"/>
            </a:solidFill>
            <a:prstDash val="solid"/>
          </a:ln>
        </p:spPr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488" y="3227832"/>
            <a:ext cx="310896" cy="310896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896112" y="3099816"/>
            <a:ext cx="3520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ADE80"/>
                </a:solidFill>
              </a:rPr>
              <a:t>ENUM &amp; Constraints</a:t>
            </a:r>
            <a:endParaRPr lang="en-US" sz="1200" dirty="0"/>
          </a:p>
        </p:txBody>
      </p:sp>
      <p:sp>
        <p:nvSpPr>
          <p:cNvPr id="16" name="Text 10"/>
          <p:cNvSpPr/>
          <p:nvPr/>
        </p:nvSpPr>
        <p:spPr>
          <a:xfrm>
            <a:off x="896112" y="3419856"/>
            <a:ext cx="3520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CA3AF"/>
                </a:solidFill>
              </a:rPr>
              <a:t>Role, status columns restricted at DB level; NOT NULL on critical fields</a:t>
            </a:r>
            <a:endParaRPr lang="en-US" sz="1050" dirty="0"/>
          </a:p>
        </p:txBody>
      </p:sp>
      <p:sp>
        <p:nvSpPr>
          <p:cNvPr id="17" name="Shape 11"/>
          <p:cNvSpPr/>
          <p:nvPr/>
        </p:nvSpPr>
        <p:spPr>
          <a:xfrm>
            <a:off x="365760" y="3895344"/>
            <a:ext cx="4206240" cy="749808"/>
          </a:xfrm>
          <a:prstGeom prst="rect">
            <a:avLst/>
          </a:prstGeom>
          <a:solidFill>
            <a:srgbClr val="111827"/>
          </a:solidFill>
          <a:ln w="6350">
            <a:solidFill>
              <a:srgbClr val="4ADE80"/>
            </a:solidFill>
            <a:prstDash val="solid"/>
          </a:ln>
        </p:spPr>
      </p:sp>
      <p:pic>
        <p:nvPicPr>
          <p:cNvPr id="18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488" y="4114800"/>
            <a:ext cx="310896" cy="310896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896112" y="3986784"/>
            <a:ext cx="3520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ADE80"/>
                </a:solidFill>
              </a:rPr>
              <a:t>SQL Joins</a:t>
            </a:r>
            <a:endParaRPr lang="en-US" sz="1200" dirty="0"/>
          </a:p>
        </p:txBody>
      </p:sp>
      <p:sp>
        <p:nvSpPr>
          <p:cNvPr id="20" name="Text 13"/>
          <p:cNvSpPr/>
          <p:nvPr/>
        </p:nvSpPr>
        <p:spPr>
          <a:xfrm>
            <a:off x="896112" y="4306824"/>
            <a:ext cx="3520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CA3AF"/>
                </a:solidFill>
              </a:rPr>
              <a:t>3-table LEFT JOIN with dynamic CASE priority scoring</a:t>
            </a:r>
            <a:endParaRPr lang="en-US" sz="1050" dirty="0"/>
          </a:p>
        </p:txBody>
      </p:sp>
      <p:sp>
        <p:nvSpPr>
          <p:cNvPr id="21" name="Shape 14"/>
          <p:cNvSpPr/>
          <p:nvPr/>
        </p:nvSpPr>
        <p:spPr>
          <a:xfrm>
            <a:off x="4846320" y="1234440"/>
            <a:ext cx="4206240" cy="749808"/>
          </a:xfrm>
          <a:prstGeom prst="rect">
            <a:avLst/>
          </a:prstGeom>
          <a:solidFill>
            <a:srgbClr val="111827"/>
          </a:solidFill>
          <a:ln w="6350">
            <a:solidFill>
              <a:srgbClr val="4ADE80"/>
            </a:solidFill>
            <a:prstDash val="solid"/>
          </a:ln>
        </p:spPr>
      </p:sp>
      <p:pic>
        <p:nvPicPr>
          <p:cNvPr id="22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56048" y="1453896"/>
            <a:ext cx="310896" cy="310896"/>
          </a:xfrm>
          <a:prstGeom prst="rect">
            <a:avLst/>
          </a:prstGeom>
        </p:spPr>
      </p:pic>
      <p:sp>
        <p:nvSpPr>
          <p:cNvPr id="23" name="Text 15"/>
          <p:cNvSpPr/>
          <p:nvPr/>
        </p:nvSpPr>
        <p:spPr>
          <a:xfrm>
            <a:off x="5376672" y="1325880"/>
            <a:ext cx="3520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ADE80"/>
                </a:solidFill>
              </a:rPr>
              <a:t>Transactions (ACID)</a:t>
            </a:r>
            <a:endParaRPr lang="en-US" sz="1200" dirty="0"/>
          </a:p>
        </p:txBody>
      </p:sp>
      <p:sp>
        <p:nvSpPr>
          <p:cNvPr id="24" name="Text 16"/>
          <p:cNvSpPr/>
          <p:nvPr/>
        </p:nvSpPr>
        <p:spPr>
          <a:xfrm>
            <a:off x="5376672" y="1645920"/>
            <a:ext cx="3520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CA3AF"/>
                </a:solidFill>
              </a:rPr>
              <a:t>BEGIN → lock → read → write → COMMIT atomically</a:t>
            </a:r>
            <a:endParaRPr lang="en-US" sz="1050" dirty="0"/>
          </a:p>
        </p:txBody>
      </p:sp>
      <p:sp>
        <p:nvSpPr>
          <p:cNvPr id="25" name="Shape 17"/>
          <p:cNvSpPr/>
          <p:nvPr/>
        </p:nvSpPr>
        <p:spPr>
          <a:xfrm>
            <a:off x="4846320" y="2121408"/>
            <a:ext cx="4206240" cy="749808"/>
          </a:xfrm>
          <a:prstGeom prst="rect">
            <a:avLst/>
          </a:prstGeom>
          <a:solidFill>
            <a:srgbClr val="111827"/>
          </a:solidFill>
          <a:ln w="6350">
            <a:solidFill>
              <a:srgbClr val="4ADE80"/>
            </a:solidFill>
            <a:prstDash val="solid"/>
          </a:ln>
        </p:spPr>
      </p:sp>
      <p:pic>
        <p:nvPicPr>
          <p:cNvPr id="26" name="Image 6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56048" y="2340864"/>
            <a:ext cx="310896" cy="310896"/>
          </a:xfrm>
          <a:prstGeom prst="rect">
            <a:avLst/>
          </a:prstGeom>
        </p:spPr>
      </p:pic>
      <p:sp>
        <p:nvSpPr>
          <p:cNvPr id="27" name="Text 18"/>
          <p:cNvSpPr/>
          <p:nvPr/>
        </p:nvSpPr>
        <p:spPr>
          <a:xfrm>
            <a:off x="5376672" y="2212848"/>
            <a:ext cx="3520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ADE80"/>
                </a:solidFill>
              </a:rPr>
              <a:t>Row-Level Locking</a:t>
            </a:r>
            <a:endParaRPr lang="en-US" sz="1200" dirty="0"/>
          </a:p>
        </p:txBody>
      </p:sp>
      <p:sp>
        <p:nvSpPr>
          <p:cNvPr id="28" name="Text 19"/>
          <p:cNvSpPr/>
          <p:nvPr/>
        </p:nvSpPr>
        <p:spPr>
          <a:xfrm>
            <a:off x="5376672" y="2532888"/>
            <a:ext cx="3520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CA3AF"/>
                </a:solidFill>
              </a:rPr>
              <a:t>SELECT … FOR UPDATE prevents race conditions in concurrent allocation</a:t>
            </a:r>
            <a:endParaRPr lang="en-US" sz="1050" dirty="0"/>
          </a:p>
        </p:txBody>
      </p:sp>
      <p:sp>
        <p:nvSpPr>
          <p:cNvPr id="29" name="Shape 20"/>
          <p:cNvSpPr/>
          <p:nvPr/>
        </p:nvSpPr>
        <p:spPr>
          <a:xfrm>
            <a:off x="4846320" y="3008376"/>
            <a:ext cx="4206240" cy="749808"/>
          </a:xfrm>
          <a:prstGeom prst="rect">
            <a:avLst/>
          </a:prstGeom>
          <a:solidFill>
            <a:srgbClr val="111827"/>
          </a:solidFill>
          <a:ln w="6350">
            <a:solidFill>
              <a:srgbClr val="4ADE80"/>
            </a:solidFill>
            <a:prstDash val="solid"/>
          </a:ln>
        </p:spPr>
      </p:sp>
      <p:pic>
        <p:nvPicPr>
          <p:cNvPr id="30" name="Image 7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56048" y="3227832"/>
            <a:ext cx="310896" cy="310896"/>
          </a:xfrm>
          <a:prstGeom prst="rect">
            <a:avLst/>
          </a:prstGeom>
        </p:spPr>
      </p:pic>
      <p:sp>
        <p:nvSpPr>
          <p:cNvPr id="31" name="Text 21"/>
          <p:cNvSpPr/>
          <p:nvPr/>
        </p:nvSpPr>
        <p:spPr>
          <a:xfrm>
            <a:off x="5376672" y="3099816"/>
            <a:ext cx="3520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ADE80"/>
                </a:solidFill>
              </a:rPr>
              <a:t>Partial Allocation</a:t>
            </a:r>
            <a:endParaRPr lang="en-US" sz="1200" dirty="0"/>
          </a:p>
        </p:txBody>
      </p:sp>
      <p:sp>
        <p:nvSpPr>
          <p:cNvPr id="32" name="Text 22"/>
          <p:cNvSpPr/>
          <p:nvPr/>
        </p:nvSpPr>
        <p:spPr>
          <a:xfrm>
            <a:off x="5376672" y="3419856"/>
            <a:ext cx="3520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CA3AF"/>
                </a:solidFill>
              </a:rPr>
              <a:t>MIN(requested, remaining) with status tracking across multiple NGOs</a:t>
            </a:r>
            <a:endParaRPr lang="en-US" sz="1050" dirty="0"/>
          </a:p>
        </p:txBody>
      </p:sp>
      <p:sp>
        <p:nvSpPr>
          <p:cNvPr id="33" name="Shape 23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34" name="Text 24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FoodLink — Reducing Food Waste with DBMS  ·  Thank You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1706</Words>
  <Application>Microsoft Office PowerPoint</Application>
  <PresentationFormat>On-screen Show (16:9)</PresentationFormat>
  <Paragraphs>279</Paragraphs>
  <Slides>15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Consolas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FoodLink – DBMS Course Project</dc:title>
  <dc:subject>PptxGenJS Presentation</dc:subject>
  <dc:creator>PptxGenJS</dc:creator>
  <cp:lastModifiedBy>BHAVITHA JAJALA</cp:lastModifiedBy>
  <cp:revision>2</cp:revision>
  <dcterms:created xsi:type="dcterms:W3CDTF">2026-04-22T20:11:27Z</dcterms:created>
  <dcterms:modified xsi:type="dcterms:W3CDTF">2026-04-23T10:22:09Z</dcterms:modified>
</cp:coreProperties>
</file>